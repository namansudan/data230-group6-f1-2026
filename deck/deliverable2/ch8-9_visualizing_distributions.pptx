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2920e84-a7c0-6429-f0e6-f8b4a58a5a50}">
          <p14:sldIdLst>
            <p14:sldId id="256"/>
            <p14:sldId id="257"/>
            <p14:sldId id="258"/>
          </p14:sldIdLst>
        </p14:section>
        <p14:section name="Chapter 8: ECDFs and Q-Q plots" id="{d6215b5c-f7ef-f8e9-373d-8196e58ecfa0}">
          <p14:sldIdLst>
            <p14:sldId id="259"/>
            <p14:sldId id="260"/>
            <p14:sldId id="261"/>
            <p14:sldId id="262"/>
            <p14:sldId id="263"/>
          </p14:sldIdLst>
        </p14:section>
        <p14:section name="Chapter 9: Many distributions" id="{d889f064-d88e-ad6c-3db9-d2e58cd1ea96}">
          <p14:sldIdLst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Summary" id="{078cd242-24c7-7f8f-c76a-c3e47531c54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covers chapters 8 and 9 of Claus Wilke's Fundamentals of Data Visualization. For each graph type we show how it is built, how to read it, and when it misleads, using real F1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8 covers a single distribution with plots that need no parameter choices. Chapter 9 covers comparing many distributions, here one per race.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reuse the F1DB release from our previous presentation. Pit lane times from 2026 are the main variable: one distribution for chapter 8 and fifteen, one per race, for chapter 9. Career totals for every driver give the heavy-tailed example in section 8.2.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histogram depends on bin width and a density plot on bandwidth. Both summarize. ECDFs and Q-Q plots show all the data with no free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Wilke's Figure 8.3 construction, applied to every 2026 pit stop. Read any percentile off the y axis: a quarter of stops took under 21.7 s, the median is 23.3 s (dashed lines), and a fifth took longer than 28.7 s. The flat stretches and jumps show the season mixes circuits with very different pit-lane lengths.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maximum is about 110 times the median. Career points are even more extreme: Lewis Hamilton has 5,217.5, while the median driver has zero. On a linear axis almost every driver is crammed near zero. A log scale makes it readable, but it is not a bell curve, unlike Wilke's counties, so careers are not log-normal. Drivers with zero starts are left out because log(0) is undefined.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log-log axes a power law is a straight line. Both F1 curves bend down, so the biggest careers are rarer than a power law predicts; the number of races a driver can enter limits career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Q-Q plot is an ECDF whose ranks are translated into the values expected under a reference distribution, here a normal curve with the stops' own mean (24.8 s) and SD (5.1 s). The line is a reference, not a fit. The story is where points leave it: a hard floor near 17 s and a long tail of slow stops. Log career starts show a flat run at 0 (162 one-race drivers) and a short top, so careers are not log-normal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Wilke's running example is Lincoln, Nebraska temperatures by month; ours is pit lane time by race. Races go on the y axis because fifteen names are hard to read rotated on an x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reproduces Wilke's 'bad' Figure 9.1 with our data. A few very slow stops inflate Australia's standard deviation, and the symmetric bar then implies impossibly fast stops. Error bars normally signal uncertainty in an estimate, not spread.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Unlike error bars, a boxplot shows skew. Its weakness: a box cannot show whether the data have one peak or two.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violin is a density plot turned sideways and mirrored. Wilke warns violins need enough data per group; several races here have fewer than 25 stops.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four races in each panel. The sina plot comes from Sidiropoulos et al., 2018, and is named for Sina Hadi Sohi.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Ridgelines put the response on the horizontal axis and stack the groups, so race names read naturally. Overlap is fine because only shapes matter.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version of Wilke's movie-length ridgeline (Figure 9.11). Each driver counts once per season, at their age on their first start that year, grouped into 5-year periods. The peak slides left and drivers in their 40s mostly disappear. The 2025–26 ridge has only 44 driver-seasons, so its second bump is noisy.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three rows are chapter 8 and the rest chapter 9. Error bars are included as the cautionary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Ch8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812800" y="62992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</a:rPr>
              <a:t>Ch 8 · ECDFs and Q-Q plots · Data: F1DB v2026.15.1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Ch9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812800" y="62992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</a:rPr>
              <a:t>Ch 9 · Many distributions at once · Data: F1DB v2026.15.1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6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812800" y="62992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</a:rPr>
              <a:t>Visualizing distributions · Data: F1DB v2026.15.1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ark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905000"/>
            <a:ext cx="9525000" cy="1905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Dark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2095500"/>
            <a:ext cx="5715000" cy="14605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Dark">
    <p:bg>
      <p:bgPr>
        <a:solidFill>
          <a:srgbClr val="1B2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812800" y="6299200"/>
            <a:ext cx="889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</a:rPr>
              <a:t>Source: Claus O. Wilke, Fundamentals of Data Visualization, Ch 8–9 · Data: F1DB v2026.15.1 (CC BY 4.0)</a:t>
            </a:r>
            <a:endParaRPr lang="en-US" sz="12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DATA 230 · WILKE, FUNDAMENTALS OF DATA VISUALIZATION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2095500"/>
            <a:ext cx="5715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600" b="1" dirty="0">
                <a:solidFill>
                  <a:schemeClr val="bg2"/>
                </a:solidFill>
              </a:rPr>
              <a:t>Visualizing Distributions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3810000"/>
            <a:ext cx="571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</a:rPr>
              <a:t>Chapter 8: ECDFs and Q-Q plots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3E0"/>
                </a:solidFill>
              </a:rPr>
              <a:t>Chapter 9: Many distributions at once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5829300"/>
            <a:ext cx="6350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</a:rPr>
              <a:t>Applied to the 2026 Formula 1 season</a:t>
            </a:r>
            <a:endParaRPr lang="en-US" sz="1200" dirty="0"/>
          </a:p>
        </p:txBody>
      </p:sp>
      <p:pic>
        <p:nvPicPr>
          <p:cNvPr id="6" name="cover_art" descr="Preview: ECDF of 2026 pit stops (chapter 8) and driver age by era as a ridgeline (chapter 9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1200" y="1587500"/>
            <a:ext cx="4318000" cy="4184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How do you show a distribution honestly?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812800" y="2032000"/>
            <a:ext cx="5080000" cy="3048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17600" y="2336800"/>
            <a:ext cx="4470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CHAPTER 8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17600" y="2641600"/>
            <a:ext cx="447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distribution, every point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17600" y="3175000"/>
            <a:ext cx="4470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ECDFs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Log–log ECDFs for skewed data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Q-Q plots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299200" y="2032000"/>
            <a:ext cx="5080000" cy="3048000"/>
          </a:xfrm>
          <a:prstGeom prst="roundRect">
            <a:avLst>
              <a:gd name="adj" fmla="val 3600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604000" y="2336800"/>
            <a:ext cx="4470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CHAPTER 9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604000" y="2641600"/>
            <a:ext cx="4470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Many distributions side by side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604000" y="3175000"/>
            <a:ext cx="44704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Boxplots and violin plots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Strip charts, jitter and sina plots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Ridgeline plots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OUR DATASET · F1DB V2026.15.1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2026 season, through Azerbaijan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812800" y="2032000"/>
            <a:ext cx="3384550" cy="1651000"/>
          </a:xfrm>
          <a:prstGeom prst="roundRect">
            <a:avLst>
              <a:gd name="adj" fmla="val 664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16000" y="2209800"/>
            <a:ext cx="2978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469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1016000" y="2819400"/>
            <a:ext cx="29781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pit stops, timed from pit entry to exit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4400550" y="2032000"/>
            <a:ext cx="3384550" cy="1651000"/>
          </a:xfrm>
          <a:prstGeom prst="roundRect">
            <a:avLst>
              <a:gd name="adj" fmla="val 664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3750" y="2209800"/>
            <a:ext cx="2978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603750" y="2819400"/>
            <a:ext cx="297815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races, Australia to Azerbaijan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7988300" y="2032000"/>
            <a:ext cx="3390900" cy="1651000"/>
          </a:xfrm>
          <a:prstGeom prst="roundRect">
            <a:avLst>
              <a:gd name="adj" fmla="val 664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91500" y="22098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917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191500" y="2819400"/>
            <a:ext cx="2984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drivers in F1 history since 1950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812800" y="4064000"/>
            <a:ext cx="105664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 open dataset as our Lecture 4–5 deck. Charts made in Python with pandas and matplotlib.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14986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CHAPTER 8 · ECDFS AND Q-Q PLOTS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2"/>
                </a:solidFill>
              </a:rPr>
              <a:t>Histograms and density plots interpret the data. ECDFs and Q-Q plots show it.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4127500"/>
            <a:ext cx="889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3E0"/>
                </a:solidFill>
              </a:rPr>
              <a:t>Change the bin width or bandwidth and the picture changes. ECDFs and Q-Q plots have nothing to tune and show every observation. The catch: they take more effort to read.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8.1 · ECDF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Building and reading an ECDF</a:t>
            </a:r>
            <a:endParaRPr lang="en-US" sz="3200" dirty="0"/>
          </a:p>
        </p:txBody>
      </p:sp>
      <p:pic>
        <p:nvPicPr>
          <p:cNvPr id="4" name="ecdf_pitstops" descr="ECDF of 469 pit lane times in 2026, median 23.3 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28800"/>
            <a:ext cx="5588000" cy="3530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56400" y="1828800"/>
            <a:ext cx="462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it's built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756400" y="2159000"/>
            <a:ext cx="46228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Sort all 469 pit stops from fastest to slowest.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Rank them 1 to 469 and plot rank against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Connect the points as a step line.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Font typeface="+mj-lt"/>
              <a:buAutoNum type="arabicPeriod" startAt="1"/>
            </a:pPr>
            <a:r>
              <a:rPr lang="en-US" sz="1400" dirty="0">
                <a:solidFill>
                  <a:schemeClr val="tx2"/>
                </a:solidFill>
              </a:rPr>
              <a:t>Divide each rank by 469, so the y axis shows the share of stops at or under each time.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756400" y="3873500"/>
            <a:ext cx="46228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Reading it</a:t>
            </a:r>
            <a:endParaRPr lang="en-US" sz="1600" dirty="0"/>
          </a:p>
        </p:txBody>
      </p:sp>
      <p:sp>
        <p:nvSpPr>
          <p:cNvPr id="8" name="Card"/>
          <p:cNvSpPr/>
          <p:nvPr/>
        </p:nvSpPr>
        <p:spPr>
          <a:xfrm>
            <a:off x="6756400" y="4216400"/>
            <a:ext cx="1473200" cy="1079500"/>
          </a:xfrm>
          <a:prstGeom prst="roundRect">
            <a:avLst>
              <a:gd name="adj" fmla="val 10165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83400" y="4343400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6883400" y="48006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under 21.7 s</a:t>
            </a:r>
            <a:endParaRPr lang="en-US" sz="1200" dirty="0"/>
          </a:p>
        </p:txBody>
      </p:sp>
      <p:sp>
        <p:nvSpPr>
          <p:cNvPr id="11" name="Card"/>
          <p:cNvSpPr/>
          <p:nvPr/>
        </p:nvSpPr>
        <p:spPr>
          <a:xfrm>
            <a:off x="8331200" y="4216400"/>
            <a:ext cx="1473200" cy="1079500"/>
          </a:xfrm>
          <a:prstGeom prst="roundRect">
            <a:avLst>
              <a:gd name="adj" fmla="val 10165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58200" y="4343400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23.3 s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458200" y="48006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median stop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9906000" y="4216400"/>
            <a:ext cx="1473200" cy="1079500"/>
          </a:xfrm>
          <a:prstGeom prst="roundRect">
            <a:avLst>
              <a:gd name="adj" fmla="val 10165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33000" y="4343400"/>
            <a:ext cx="1270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10033000" y="4800600"/>
            <a:ext cx="127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over 28.7 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8.2 · HIGHLY SKEWED DISTRIBUTIONS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F1 careers have a heavy right tail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8415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Linear scale: crammed near zero</a:t>
            </a:r>
            <a:endParaRPr lang="en-US" sz="1500" dirty="0"/>
          </a:p>
        </p:txBody>
      </p:sp>
      <p:pic>
        <p:nvPicPr>
          <p:cNvPr id="5" name="starts_linear" descr="Density of career starts on a linear axi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2235200"/>
            <a:ext cx="5080000" cy="3175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299200" y="18415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Fix 1, log scale: readable, but </a:t>
            </a:r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not a bell curve</a:t>
            </a:r>
            <a:endParaRPr lang="en-US" sz="1500" dirty="0"/>
          </a:p>
        </p:txBody>
      </p:sp>
      <p:pic>
        <p:nvPicPr>
          <p:cNvPr id="7" name="starts_log" descr="Density of career starts on a log axi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9200" y="2235200"/>
            <a:ext cx="5080000" cy="3175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8.2 · REMEDY 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Fix 2: a log–log ECDF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12800" y="1905000"/>
            <a:ext cx="444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Plot the share of drivers with at least x, with both axes on a log scale.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12800" y="2857500"/>
            <a:ext cx="4445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1"/>
                </a:solidFill>
              </a:rPr>
              <a:t>Career starts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drop off sharply past 100.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b="1" dirty="0">
                <a:solidFill>
                  <a:schemeClr val="accent3"/>
                </a:solidFill>
              </a:rPr>
              <a:t>Career points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chemeClr val="tx2"/>
                </a:solidFill>
              </a:rPr>
              <a:t> stay straighter, but bend at the top too.</a:t>
            </a:r>
            <a:endParaRPr lang="en-US" sz="1500" dirty="0"/>
          </a:p>
        </p:txBody>
      </p:sp>
      <p:pic>
        <p:nvPicPr>
          <p:cNvPr id="6" name="loglog_careers" descr="Log-log descending ECDF of career starts and career poi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200" y="1879600"/>
            <a:ext cx="5715000" cy="3606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664200" y="5588000"/>
            <a:ext cx="5715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792 drivers with a start · 357 with points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8.3 · Q-Q PLOTS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Q-Q plots: where points leave the line</a:t>
            </a:r>
            <a:endParaRPr lang="en-US" sz="3200" dirty="0"/>
          </a:p>
        </p:txBody>
      </p:sp>
      <p:pic>
        <p:nvPicPr>
          <p:cNvPr id="4" name="qq_pitstops" descr="Q-Q plot of 2026 pit lane times against a normal distributi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28800"/>
            <a:ext cx="5943600" cy="375285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59600" y="1828800"/>
            <a:ext cx="4419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What it shows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59600" y="2159000"/>
            <a:ext cx="441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Bottom: flattens near 17 s. A normal curve expects 10 s stops, which never happen.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Top: slow stops shoot above the line, up to 47 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Middle: wiggles where whole races cluster.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14986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B47A"/>
                </a:solidFill>
              </a:rPr>
              <a:t>CHAPTER 9 · MANY DISTRIBUTIONS AT ONCE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905000"/>
            <a:ext cx="9525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2"/>
                </a:solidFill>
              </a:rPr>
              <a:t>Put the response on one axis and the groups on the other.</a:t>
            </a:r>
            <a:endParaRPr lang="en-US" sz="4000" dirty="0"/>
          </a:p>
        </p:txBody>
      </p:sp>
      <p:sp>
        <p:nvSpPr>
          <p:cNvPr id="4" name="Divider"/>
          <p:cNvSpPr/>
          <p:nvPr/>
        </p:nvSpPr>
        <p:spPr>
          <a:xfrm>
            <a:off x="812800" y="3810000"/>
            <a:ext cx="3048000" cy="0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12800" y="39624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RESPONSE VARIABLE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12800" y="4254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</a:rPr>
              <a:t>Pit lane time (s), on the x axis</a:t>
            </a:r>
            <a:endParaRPr lang="en-US" sz="1500" dirty="0"/>
          </a:p>
        </p:txBody>
      </p:sp>
      <p:sp>
        <p:nvSpPr>
          <p:cNvPr id="7" name="Divider"/>
          <p:cNvSpPr/>
          <p:nvPr/>
        </p:nvSpPr>
        <p:spPr>
          <a:xfrm>
            <a:off x="4114800" y="3810000"/>
            <a:ext cx="3048000" cy="0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0" y="39624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GROUPING VARIABLE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4254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</a:rPr>
              <a:t>Each Grand Prix, on the y axis so the names are easy to read</a:t>
            </a:r>
            <a:endParaRPr lang="en-US" sz="1500" dirty="0"/>
          </a:p>
        </p:txBody>
      </p:sp>
      <p:sp>
        <p:nvSpPr>
          <p:cNvPr id="10" name="Divider"/>
          <p:cNvSpPr/>
          <p:nvPr/>
        </p:nvSpPr>
        <p:spPr>
          <a:xfrm>
            <a:off x="7416800" y="3810000"/>
            <a:ext cx="3048000" cy="0"/>
          </a:xfrm>
          <a:prstGeom prst="line">
            <a:avLst/>
          </a:prstGeom>
          <a:noFill/>
          <a:ln w="12700">
            <a:solidFill>
              <a:srgbClr val="4A5A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16800" y="3962400"/>
            <a:ext cx="30480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4"/>
                </a:solidFill>
              </a:rPr>
              <a:t>RUNNING EXAMPLE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416800" y="4254500"/>
            <a:ext cx="304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</a:rPr>
              <a:t>469 stops across 15 races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9.1 · THE PLOT TO AVOID (FIG 9.1)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Error bars hide the distribution</a:t>
            </a:r>
            <a:endParaRPr lang="en-US" sz="3200" dirty="0"/>
          </a:p>
        </p:txBody>
      </p:sp>
      <p:pic>
        <p:nvPicPr>
          <p:cNvPr id="4" name="errorbars" descr="Mean pit lane time plus or minus 2 SD for each rac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41500"/>
            <a:ext cx="5080000" cy="4013200"/>
          </a:xfrm>
          <a:prstGeom prst="rect">
            <a:avLst/>
          </a:prstGeom>
        </p:spPr>
      </p:pic>
      <p:sp>
        <p:nvSpPr>
          <p:cNvPr id="5" name="Card"/>
          <p:cNvSpPr/>
          <p:nvPr/>
        </p:nvSpPr>
        <p:spPr>
          <a:xfrm>
            <a:off x="6248400" y="1879600"/>
            <a:ext cx="5130800" cy="863600"/>
          </a:xfrm>
          <a:prstGeom prst="roundRect">
            <a:avLst>
              <a:gd name="adj" fmla="val 1270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51600" y="20193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Throws data away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51600" y="2311400"/>
            <a:ext cx="472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Up to 50 stops become a dot and two lines.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6248400" y="2844800"/>
            <a:ext cx="5130800" cy="863600"/>
          </a:xfrm>
          <a:prstGeom prst="roundRect">
            <a:avLst>
              <a:gd name="adj" fmla="val 1270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51600" y="29845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Mean or median?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6451600" y="3276600"/>
            <a:ext cx="472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The dot doesn't say.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6248400" y="3810000"/>
            <a:ext cx="5130800" cy="863600"/>
          </a:xfrm>
          <a:prstGeom prst="roundRect">
            <a:avLst>
              <a:gd name="adj" fmla="val 1270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51600" y="39497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Unclear bars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6451600" y="4241800"/>
            <a:ext cx="472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SD, SE or confidence interval? Readers mix them up.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248400" y="4775200"/>
            <a:ext cx="5130800" cy="863600"/>
          </a:xfrm>
          <a:prstGeom prst="roundRect">
            <a:avLst>
              <a:gd name="adj" fmla="val 12706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51600" y="4914900"/>
            <a:ext cx="4724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Symmetric bars, skewed data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451600" y="5207000"/>
            <a:ext cx="4724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Australia's bar dips to 10.8 s. Its fastest stop was 17.6 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9.1 · BOXPLOT (FIGS 9.2–9.3)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Boxplots sum up each race in five marks</a:t>
            </a:r>
            <a:endParaRPr lang="en-US" sz="3200" dirty="0"/>
          </a:p>
        </p:txBody>
      </p:sp>
      <p:pic>
        <p:nvPicPr>
          <p:cNvPr id="4" name="boxplots" descr="Horizontal boxplots of pit lane time for 15 r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41500"/>
            <a:ext cx="5753100" cy="401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21500" y="1879600"/>
            <a:ext cx="4457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it's built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21500" y="2222500"/>
            <a:ext cx="44577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Box: the middle 50%, line at the median.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Whiskers: out to 1.5 × the box length.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Beyond that: outliers, drawn in orange.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Invented by John Tukey, early 1970s.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21500" y="3810000"/>
            <a:ext cx="4457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the 2026 data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629400" y="4152900"/>
            <a:ext cx="44577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Most races are tight; the Netherlands' middle 50% fits in under a second. Australia's median hugs the left edge of a long box: strong skew. Great Britain has the most slow stops.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9.1 · VIOLIN PLOT (FIGS 9.4–9.5)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Violins show the shape that a box hides</a:t>
            </a:r>
            <a:endParaRPr lang="en-US" sz="3200" dirty="0"/>
          </a:p>
        </p:txBody>
      </p:sp>
      <p:pic>
        <p:nvPicPr>
          <p:cNvPr id="4" name="violins" descr="Horizontal violin plots of pit lane time for 15 r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41500"/>
            <a:ext cx="5753100" cy="401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921500" y="1879600"/>
            <a:ext cx="4457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How it's built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921500" y="2222500"/>
            <a:ext cx="44577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A density curve, mirrored.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Thicker means more stops at that time.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Dots mark the median.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921500" y="3365500"/>
            <a:ext cx="44577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the 2026 data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921500" y="3708400"/>
            <a:ext cx="44577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Most races have one main bulge and a thin tail of slow stops.</a:t>
            </a:r>
            <a:endParaRPr lang="en-US" sz="1400" dirty="0"/>
          </a:p>
        </p:txBody>
      </p:sp>
      <p:sp>
        <p:nvSpPr>
          <p:cNvPr id="9" name="Caveat"/>
          <p:cNvSpPr/>
          <p:nvPr/>
        </p:nvSpPr>
        <p:spPr>
          <a:xfrm>
            <a:off x="6921500" y="4699000"/>
            <a:ext cx="4457700" cy="889000"/>
          </a:xfrm>
          <a:prstGeom prst="roundRect">
            <a:avLst>
              <a:gd name="adj" fmla="val 12343"/>
            </a:avLst>
          </a:prstGeom>
          <a:solidFill>
            <a:schemeClr val="accent5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099300" y="4851400"/>
            <a:ext cx="41021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Caveat: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with only 18–50 stops per race, smoothing can stretch a few slow stops into a tail.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9.1 · SHOWING EVERY POINT (FIGS 9.6–9.8)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ways to plot the raw points</a:t>
            </a:r>
            <a:endParaRPr lang="en-US" sz="3200" dirty="0"/>
          </a:p>
        </p:txBody>
      </p:sp>
      <p:pic>
        <p:nvPicPr>
          <p:cNvPr id="4" name="points_strip" descr="Strip chart (avoid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28800"/>
            <a:ext cx="3302000" cy="3175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12800" y="521970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Strip chart (avoid)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800" y="55372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Dots pile on top of each other. The Netherlands' 42 stops become one smear.</a:t>
            </a:r>
            <a:endParaRPr lang="en-US" sz="1400" dirty="0"/>
          </a:p>
        </p:txBody>
      </p:sp>
      <p:pic>
        <p:nvPicPr>
          <p:cNvPr id="7" name="points_jitter" descr="Jittered poi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5000" y="1828800"/>
            <a:ext cx="3302000" cy="31750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445000" y="521970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Jittered points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445000" y="55372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 little random noise spreads the dots out. Works well for small groups like these.</a:t>
            </a:r>
            <a:endParaRPr lang="en-US" sz="1400" dirty="0"/>
          </a:p>
        </p:txBody>
      </p:sp>
      <p:pic>
        <p:nvPicPr>
          <p:cNvPr id="10" name="points_sina" descr="Sina plo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828800"/>
            <a:ext cx="3302000" cy="3175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077200" y="5219700"/>
            <a:ext cx="33020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Sina plot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077200" y="55372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Dots spread out where they're dense, so each race traces a violin.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9.2 · ALONG THE HORIZONTAL AXIS (FIGS 9.9–9.10)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Ridgelines: stacked density ridges</a:t>
            </a:r>
            <a:endParaRPr lang="en-US" sz="3200" dirty="0"/>
          </a:p>
        </p:txBody>
      </p:sp>
      <p:pic>
        <p:nvPicPr>
          <p:cNvPr id="4" name="ridgeline_races" descr="Ridgeline plot of pit lane time for 15 rac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28800"/>
            <a:ext cx="7620000" cy="401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737600" y="1879600"/>
            <a:ext cx="2641600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 the 2026 data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737600" y="2222500"/>
            <a:ext cx="2641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Orange: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Australia (most skewed) and Great Britain (most slow stops).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8737600" y="3175000"/>
            <a:ext cx="2641600" cy="1206500"/>
          </a:xfrm>
          <a:prstGeom prst="roundRect">
            <a:avLst>
              <a:gd name="adj" fmla="val 9095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940800" y="3352800"/>
            <a:ext cx="223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18.1 s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940800" y="3962400"/>
            <a:ext cx="2235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Netherlands median, the narrowest ridge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8737600" y="4521200"/>
            <a:ext cx="2641600" cy="1206500"/>
          </a:xfrm>
          <a:prstGeom prst="roundRect">
            <a:avLst>
              <a:gd name="adj" fmla="val 9095"/>
            </a:avLst>
          </a:prstGeom>
          <a:solidFill>
            <a:schemeClr val="bg1"/>
          </a:solidFill>
          <a:ln w="9525">
            <a:solidFill>
              <a:srgbClr val="DDD8CC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940800" y="4699000"/>
            <a:ext cx="2235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31.5 s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940800" y="5308600"/>
            <a:ext cx="22352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Spain median, the slowest pit lane of the season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9.2 · RIDGELINES AT SCALE (FIG 9.11)</a:t>
            </a:r>
            <a:endParaRPr lang="en-US" sz="12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F1 drivers have gotten younger</a:t>
            </a:r>
            <a:endParaRPr lang="en-US" sz="3200" dirty="0"/>
          </a:p>
        </p:txBody>
      </p:sp>
      <p:pic>
        <p:nvPicPr>
          <p:cNvPr id="4" name="ridgeline_years" descr="Ridgeline plot of driver age per 5-year period, 1950 to 202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2800" y="1803400"/>
            <a:ext cx="6985000" cy="4064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204200" y="2159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1950–54: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median age 35.8, spread from 20 to 50+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204200" y="29845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1980s: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median about 29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04200" y="3810000"/>
            <a:ext cx="3175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2015–24: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median 26.4, a younger and tighter field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04200" y="4699000"/>
            <a:ext cx="3175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A7179"/>
                </a:solidFill>
              </a:rPr>
              <a:t>One age per driver per season, 1950–2026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 txBox="1"/>
          <p:nvPr/>
        </p:nvSpPr>
        <p:spPr>
          <a:xfrm>
            <a:off x="812800" y="812800"/>
            <a:ext cx="10566400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244600"/>
          <a:ext cx="10566400" cy="914400"/>
        </p:xfrm>
        <a:graphic>
          <a:graphicData uri="http://schemas.openxmlformats.org/drawingml/2006/table">
            <a:tbl>
              <a:tblPr/>
              <a:tblGrid>
                <a:gridCol w="1587500"/>
                <a:gridCol w="3276600"/>
                <a:gridCol w="2851150"/>
                <a:gridCol w="285115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Plot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How it's built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Best for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Avoid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ECDF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Sort, rank, plot cumulative fraction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distribution, every point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Less intuitive for lay readers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Log–log ECDF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Descending ECDF, both axes logged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Spotting power laws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Log-normal tails bend away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Q-Q plot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Observed vs theoretical quantiles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Testing fit to a distribution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 = y is not a regression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Error bars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One point ± spread per group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Uncertainty of an estimate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Hides shape; meaning unclear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Boxplot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Median, quartiles, 1.5× fences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Compact comparison, skew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Hides multiple peaks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Violin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Mirrored density estimate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Shape and multiple peaks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Needs enough data per group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Jitter / sina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Raw points spread sideways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Sparse data, every point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Unjittered strips overplot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Ridgeline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Densities stacked vertically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Many groups, time trends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No density axis; avoid histograms</a:t>
                      </a:r>
                      <a:endParaRPr lang="en-US" sz="1500" dirty="0"/>
                    </a:p>
                  </a:txBody>
                  <a:tcPr marL="118872" marR="118872" marT="91440" marB="91440">
                    <a:lnL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8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EE6"/>
                    </a:solidFill>
                  </a:tcPr>
                </a:tc>
              </a:tr>
            </a:tbl>
          </a:graphicData>
        </a:graphic>
      </p:graphicFrame>
      <p:sp>
        <p:nvSpPr>
          <p:cNvPr id="5" name="Text 0"/>
          <p:cNvSpPr/>
          <p:nvPr>
            <p:ph idx="100" type="title" hasCustomPrompt="1"/>
          </p:nvPr>
        </p:nvSpPr>
        <p:spPr>
          <a:xfrm>
            <a:off x="812800" y="1066800"/>
            <a:ext cx="105664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44200" y="6299200"/>
            <a:ext cx="635000" cy="2159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A7179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stributions F1">
  <a:themeElements>
    <a:clrScheme name="Distributions F1">
      <a:dk1>
        <a:srgbClr val="1B2433"/>
      </a:dk1>
      <a:lt1>
        <a:srgbClr val="FFFFFF"/>
      </a:lt1>
      <a:dk2>
        <a:srgbClr val="4A5568"/>
      </a:dk2>
      <a:lt2>
        <a:srgbClr val="F6F4EE"/>
      </a:lt2>
      <a:accent1>
        <a:srgbClr val="2F6DB5"/>
      </a:accent1>
      <a:accent2>
        <a:srgbClr val="D9822B"/>
      </a:accent2>
      <a:accent3>
        <a:srgbClr val="A85A12"/>
      </a:accent3>
      <a:accent4>
        <a:srgbClr val="8FB4E3"/>
      </a:accent4>
      <a:accent5>
        <a:srgbClr val="ECE8DE"/>
      </a:accent5>
      <a:accent6>
        <a:srgbClr val="243047"/>
      </a:accent6>
      <a:hlink>
        <a:srgbClr val="2F6DB5"/>
      </a:hlink>
      <a:folHlink>
        <a:srgbClr val="A85A12"/>
      </a:folHlink>
    </a:clrScheme>
    <a:fontScheme name="Distributions F1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Visualizing Distributions: Ch 8 &amp; 9</dc:title>
  <dc:subject>PptxGenJS Presentation</dc:subject>
  <dc:creator>PptxGenJS</dc:creator>
  <cp:lastModifiedBy>PptxGenJS</cp:lastModifiedBy>
  <cp:revision>1</cp:revision>
  <dcterms:created xsi:type="dcterms:W3CDTF">2026-10-14T06:08:43Z</dcterms:created>
  <dcterms:modified xsi:type="dcterms:W3CDTF">2026-10-14T06:08:43Z</dcterms:modified>
</cp:coreProperties>
</file>