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we are, what we cover: Lecture 4 (color scales) and Lecture 5 (directory of visualizations), all on one real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after 15 races Antonelli leads his own teammate by 66 points. How do you show a season like that? Data: F1DB, open source, CC BY 4.0, updated after every 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with the colors F1 itself uses, show they fail, fix them, then use color for values and for highlighting.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bottom lines and ask the room which blue is Williams. Four blues: Red Bull, Racing Bulls, Alpine, Williams. Two reds: Ferrari, Audi. Two grays: Haas, Cadillac.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Simulated with the Machado 2009 model. Merge this slide with the previous one if we run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data, same chart type as slide 4. Okabe-Ito has 8 colors, 11 teams is too many anyway. Direct labels replace the legend.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Heatmap because 22 drivers x 15 races = 330 values; a line chart would be spaghetti. Drivers sorted by championship.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Red-blue not red-green, for colorblind viewers. Capped at 10 places so a few big swings do not wash out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Mercedes, so team color would make them identical. Orange and blue are the most separable Okabe-Ito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before Act 2. Keep it to 20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questions a fan asks, six chart families from Lecture 5. The data type plus the question decides the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Horizontal so team names read easily, sorted so the ranking is instant. One color, since color adds nothing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pit lane times, entry to exit, not the 2 second tyre change. Dots show every stop so the box hides nothing. Sets up slide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Mercedes sits at the bottom so it has the common baseline. 15 pies would make the comparison impossible.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Below the line = gained places. Small jitter because positions are whole numbers. Antonelli at Italy, P19 to the win, is the outlier.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 map not choropleth: a choropleth would color the whole US for 3 races and hide Monaco. The interactive version is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stop compared to the average stop at that same race, because slide 13 showed the track sets the time. 35 to 51 stops per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screen recording (about 60 to 90 seconds). Built with Streamlit plus a single offline HTML page, same clean data as the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in 30 seconds, then open Q&amp;A. The Q&amp;A prep doc has short answers for the likely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" y="0"/>
            <a:ext cx="12039600" cy="101600"/>
          </a:xfrm>
          <a:prstGeom prst="rect">
            <a:avLst/>
          </a:prstGeom>
          <a:gradFill rotWithShape="1">
            <a:gsLst>
              <a:gs pos="0">
                <a:srgbClr val="15151E"/>
              </a:gs>
              <a:gs pos="50000">
                <a:srgbClr val="15151E"/>
              </a:gs>
              <a:gs pos="50000">
                <a:srgbClr val="F6F1E7"/>
              </a:gs>
              <a:gs pos="100000">
                <a:srgbClr val="F6F1E7"/>
              </a:gs>
            </a:gsLst>
            <a:lin ang="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812800" y="19279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DATA 230 · LECTURES 4 AND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34444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Same season,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E10600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 charts.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12800" y="4147840"/>
            <a:ext cx="85026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2026 Formula 1 season through color scales and chart choice.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468124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Tara · Eliza · Naman · Steven   |   September 30,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SEASON SO FAR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Two teammates, one title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1777901"/>
            <a:ext cx="241804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10600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302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812800" y="3073301"/>
            <a:ext cx="241804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Kimi Antonelli, Mercedes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65215" y="2626320"/>
            <a:ext cx="492026" cy="75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6B6B76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11241" y="1777901"/>
            <a:ext cx="2542619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236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4211241" y="3073301"/>
            <a:ext cx="254261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George Russell, Mercedes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975" y="4923234"/>
            <a:ext cx="2520950" cy="915591"/>
          </a:xfrm>
          <a:prstGeom prst="roundRect">
            <a:avLst>
              <a:gd name="adj" fmla="val 10750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950" y="5078809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15 of 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96950" y="546993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races run, through Azerbaijan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95675" y="4923234"/>
            <a:ext cx="2520950" cy="915591"/>
          </a:xfrm>
          <a:prstGeom prst="roundRect">
            <a:avLst>
              <a:gd name="adj" fmla="val 10750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6650" y="5078809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76650" y="546993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race results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5375" y="4923234"/>
            <a:ext cx="2520950" cy="915591"/>
          </a:xfrm>
          <a:prstGeom prst="roundRect">
            <a:avLst>
              <a:gd name="adj" fmla="val 10750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6350" y="5078809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6350" y="546993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pit stops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55075" y="4923234"/>
            <a:ext cx="2520950" cy="915591"/>
          </a:xfrm>
          <a:prstGeom prst="roundRect">
            <a:avLst>
              <a:gd name="adj" fmla="val 10750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6050" y="5078809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36050" y="546993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circuits on 5 continents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10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7845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BF6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ACT 1 · LECTURE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74578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BF6E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Color has three jobs.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800" y="3652540"/>
            <a:ext cx="3386634" cy="0"/>
          </a:xfrm>
          <a:prstGeom prst="line">
            <a:avLst/>
          </a:prstGeom>
          <a:noFill/>
          <a:ln w="25400">
            <a:solidFill>
              <a:srgbClr val="FBF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3792240"/>
            <a:ext cx="348823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BF6E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Distinguish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4127500"/>
            <a:ext cx="34882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BF6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4.1 qualitative scales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34" y="3652540"/>
            <a:ext cx="3386634" cy="0"/>
          </a:xfrm>
          <a:prstGeom prst="line">
            <a:avLst/>
          </a:prstGeom>
          <a:noFill/>
          <a:ln w="25400">
            <a:solidFill>
              <a:srgbClr val="FBF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2634" y="3792240"/>
            <a:ext cx="348823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BF6E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Represent values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02634" y="4127500"/>
            <a:ext cx="34882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BF6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4.2 sequential and diverging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2467" y="3652540"/>
            <a:ext cx="3386634" cy="0"/>
          </a:xfrm>
          <a:prstGeom prst="line">
            <a:avLst/>
          </a:prstGeom>
          <a:noFill/>
          <a:ln w="25400">
            <a:solidFill>
              <a:srgbClr val="FBF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2467" y="3792240"/>
            <a:ext cx="348823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BF6E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Highlight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92467" y="4127500"/>
            <a:ext cx="34882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BF6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4.3 accent colors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F6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F6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4.1 DISTINGUISH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official team colors clash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Team points by round in official team colors">    </p:cNvPr>
          <p:cNvPicPr>
            <a:picLocks noChangeAspect="1"/>
          </p:cNvPicPr>
          <p:nvPr/>
        </p:nvPicPr>
        <p:blipFill>
          <a:blip r:embed="rId1"/>
          <a:srcRect l="-6616" r="-6616" t="0" b="0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Qualitative scale, one color per team.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46300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56143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281285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Four blues, two reds, two grays. Matching the lower lines to the legend is guesswork.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45479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355322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380464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Brand colors are for marketing, not for telling groups apart.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4.1 DISTINGUISH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And they fail for colorblind viewers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Official team colors under simulated color blindness">    </p:cNvPr>
          <p:cNvPicPr>
            <a:picLocks noChangeAspect="1"/>
          </p:cNvPicPr>
          <p:nvPr/>
        </p:nvPicPr>
        <p:blipFill>
          <a:blip r:embed="rId1"/>
          <a:srcRect l="0" r="0" t="-18545" b="-18545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qualitative scale must work for everyone.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46300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56143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281285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Under deuteranopia Ferrari and Audi merge, Mercedes turns gray.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45479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355322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380464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About 1 in 12 men gets roughly 5 usable colors for 11 teams.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4.1 + 4.3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Fewer colors tell the story better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Team points with the top four in Okabe-Ito colors and the rest gray">    </p:cNvPr>
          <p:cNvPicPr>
            <a:picLocks noChangeAspect="1"/>
          </p:cNvPicPr>
          <p:nvPr/>
        </p:nvPicPr>
        <p:blipFill>
          <a:blip r:embed="rId1"/>
          <a:srcRect l="-6471" r="-6471" t="0" b="0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Okabe-Ito for the top 4, gray for 7, direct labels.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70301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80144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3052862"/>
            <a:ext cx="3767328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Mercedes pulls away. Ferrari and McLaren fight for P2. Red Bull closing. The rest stay under 90 points.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93481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403324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4284663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Removing color made it clearer.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4.2 REPRESENT VALUES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Rainbow scales invent boundaries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Finishing position heatmap in rainbow and in a single-hue blue scale">    </p:cNvPr>
          <p:cNvPicPr>
            <a:picLocks noChangeAspect="1"/>
          </p:cNvPicPr>
          <p:nvPr/>
        </p:nvPicPr>
        <p:blipFill>
          <a:blip r:embed="rId1"/>
          <a:srcRect l="-7418" r="-7418" t="0" b="0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Sequential scale for ordered data.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46300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56143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2812852"/>
            <a:ext cx="3767328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Rainbow makes P8 to P14 look special. Single-hue reads top to bottom. Gray x = did not finish.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69480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379323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404465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Sequential also exposes reliability: Stroll failed to finish 11 of 15.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4.2 REPRESENT VALUES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Diverging splits gains from losses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Places gained or lost per driver and race on a red-blue scale">    </p:cNvPr>
          <p:cNvPicPr>
            <a:picLocks noChangeAspect="1"/>
          </p:cNvPicPr>
          <p:nvPr/>
        </p:nvPicPr>
        <p:blipFill>
          <a:blip r:embed="rId1"/>
          <a:srcRect l="-19647" r="-19647" t="0" b="0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Diverging scale, because 0 = no change is a real midpoint.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70301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80144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3052862"/>
            <a:ext cx="3767328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Blue = comebacks: Antonelli P19 to P1 at Italy, Hadjar P21 to P6 at Belgium. Front runners are white.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93481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403324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4284663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 cannot gain places from pole.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4.3 HIGHLIGHT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Gray is a color too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Driver points by round with Antonelli and Russell highlighted">    </p:cNvPr>
          <p:cNvPicPr>
            <a:picLocks noChangeAspect="1"/>
          </p:cNvPicPr>
          <p:nvPr/>
        </p:nvPicPr>
        <p:blipFill>
          <a:blip r:embed="rId1"/>
          <a:srcRect l="-6616" r="-6616" t="0" b="0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Accent colors on gray context.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46300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56143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281285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Russell led rounds 1 and 2. Antonelli every round since, now 302 to 236.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45479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355322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3804642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Pick the story first, then color it.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LECTURE 4 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Pick the job, then the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831876"/>
            <a:ext cx="3380284" cy="1870373"/>
          </a:xfrm>
          <a:prstGeom prst="roundRect">
            <a:avLst>
              <a:gd name="adj" fmla="val 5262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063651"/>
            <a:ext cx="30042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Distinguish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7750" y="2475111"/>
            <a:ext cx="3004236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Colors people can tell apart, colorblind viewers included. Brand colors fail. Okabe-Ito and fewer groups fix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09" y="1831876"/>
            <a:ext cx="3380284" cy="1870373"/>
          </a:xfrm>
          <a:prstGeom prst="roundRect">
            <a:avLst>
              <a:gd name="adj" fmla="val 5262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7584" y="2063651"/>
            <a:ext cx="30042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Represent values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37584" y="2475111"/>
            <a:ext cx="300423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Ordered data: sequential. A meaningful middle: diverging. Rainbow adds fake structure.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5642" y="1831876"/>
            <a:ext cx="3380284" cy="1870373"/>
          </a:xfrm>
          <a:prstGeom prst="roundRect">
            <a:avLst>
              <a:gd name="adj" fmla="val 5262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7417" y="2063651"/>
            <a:ext cx="300423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Highlight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7417" y="2475111"/>
            <a:ext cx="300423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Gray out the context, color the story, label directly.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87205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ACT 2 · LECTURE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39018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question picks the chart.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12800" y="3347740"/>
            <a:ext cx="3522067" cy="0"/>
          </a:xfrm>
          <a:prstGeom prst="line">
            <a:avLst/>
          </a:prstGeom>
          <a:noFill/>
          <a:ln w="254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3474740"/>
            <a:ext cx="362772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Amounts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3810000"/>
            <a:ext cx="362772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sorted bars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4867" y="3347740"/>
            <a:ext cx="3522166" cy="0"/>
          </a:xfrm>
          <a:prstGeom prst="line">
            <a:avLst/>
          </a:prstGeom>
          <a:noFill/>
          <a:ln w="25400">
            <a:solidFill>
              <a:srgbClr val="E10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34867" y="3474740"/>
            <a:ext cx="36278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Distributions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34867" y="3810000"/>
            <a:ext cx="362783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box + strip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57034" y="3347740"/>
            <a:ext cx="3522166" cy="0"/>
          </a:xfrm>
          <a:prstGeom prst="line">
            <a:avLst/>
          </a:prstGeom>
          <a:noFill/>
          <a:ln w="25400">
            <a:solidFill>
              <a:srgbClr val="E10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7034" y="3474740"/>
            <a:ext cx="36278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Proportions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57034" y="3810000"/>
            <a:ext cx="362783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stacked bars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4071541"/>
            <a:ext cx="3522067" cy="0"/>
          </a:xfrm>
          <a:prstGeom prst="line">
            <a:avLst/>
          </a:prstGeom>
          <a:noFill/>
          <a:ln w="25400">
            <a:solidFill>
              <a:srgbClr val="E10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4198541"/>
            <a:ext cx="362772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x-y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2800" y="4533801"/>
            <a:ext cx="362772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scatter + x = 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34867" y="4071541"/>
            <a:ext cx="3522166" cy="0"/>
          </a:xfrm>
          <a:prstGeom prst="line">
            <a:avLst/>
          </a:prstGeom>
          <a:noFill/>
          <a:ln w="25400">
            <a:solidFill>
              <a:srgbClr val="E10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4867" y="4198541"/>
            <a:ext cx="36278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Geospatial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34867" y="4533801"/>
            <a:ext cx="362783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dot map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57034" y="4071541"/>
            <a:ext cx="3522166" cy="0"/>
          </a:xfrm>
          <a:prstGeom prst="line">
            <a:avLst/>
          </a:prstGeom>
          <a:noFill/>
          <a:ln w="25400">
            <a:solidFill>
              <a:srgbClr val="E10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57034" y="4198541"/>
            <a:ext cx="36278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Uncertainty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57034" y="4533801"/>
            <a:ext cx="362783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mean + 95% CI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5.1 AMOUNTS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 four team championship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Team points after 15 races as sorted horizontal bars">    </p:cNvPr>
          <p:cNvPicPr>
            <a:picLocks noChangeAspect="1"/>
          </p:cNvPicPr>
          <p:nvPr/>
        </p:nvPicPr>
        <p:blipFill>
          <a:blip r:embed="rId1"/>
          <a:srcRect l="-5191" r="-5191" t="0" b="0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Sorted horizontal bars, one color.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46300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56143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281285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Mercedes 538. A cliff after P4: the bottom 7 teams have 210 combined.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45479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355322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3804642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cliff after P4 is the headline.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5.2 DISTRIBUTIONS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track sets the pit stop time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Pit lane time per race as box plots with raw stops">    </p:cNvPr>
          <p:cNvPicPr>
            <a:picLocks noChangeAspect="1"/>
          </p:cNvPicPr>
          <p:nvPr/>
        </p:nvPicPr>
        <p:blipFill>
          <a:blip r:embed="rId1"/>
          <a:srcRect l="-12051" r="-12051" t="0" b="0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Many distributions at once: box + strip.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46300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56143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2812852"/>
            <a:ext cx="3767328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Medians run 18 s (Netherlands) to 31 s (Spain). Within a race, most stops are within about 1.3 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69480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379323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4044652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Pit lane length matters more than the crew.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5.3 PROPORTIONS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Mercedes took the biggest slice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Share of each weekend's points by team as 100 percent stacked bars">    </p:cNvPr>
          <p:cNvPicPr>
            <a:picLocks noChangeAspect="1"/>
          </p:cNvPicPr>
          <p:nvPr/>
        </p:nvPicPr>
        <p:blipFill>
          <a:blip r:embed="rId1"/>
          <a:srcRect l="0" r="0" t="-607" b="-607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100% stacked bars; 15 races is too many for pies.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70301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80144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305286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Biggest share at 10 of 15 weekends, about 32% on average. Red Bull stronger late.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69480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379323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404465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Stacked bars follow one team across all 15 races.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5.4 X-Y RELATIONSHIPS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Where you start mostly decides where you finish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Grid position against finishing position with an x equals y line">    </p:cNvPr>
          <p:cNvPicPr>
            <a:picLocks noChangeAspect="1"/>
          </p:cNvPicPr>
          <p:nvPr/>
        </p:nvPicPr>
        <p:blipFill>
          <a:blip r:embed="rId1"/>
          <a:srcRect l="-36449" r="-36449" t="0" b="0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Scatter for paired data, with an x = y line.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46300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56143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281285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Spearman rho 0.78. Pole won 10 of 15. 61% finish within 2 places of their grid slot.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45479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355322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3804642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Qualifying matters most at the front.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5.5 GEOSPATIAL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Mercedes wins everywhere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World map of 2026 circuits colored by winning team">    </p:cNvPr>
          <p:cNvPicPr>
            <a:picLocks noChangeAspect="1"/>
          </p:cNvPicPr>
          <p:nvPr/>
        </p:nvPicPr>
        <p:blipFill>
          <a:blip r:embed="rId1"/>
          <a:srcRect l="0" r="0" t="-1889" b="-1889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Dot map (circuits are points), Robinson projection.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70301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80144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3052862"/>
            <a:ext cx="3767328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Mercedes won on every continent so far. Ferrari and McLaren only in Europe. 8 races left, none in Europe.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93481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403324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4284663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map answers where; bars cannot.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5.6 UNCERTAINTY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Only the ends of the ranking are real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75" y="1704876"/>
            <a:ext cx="6597650" cy="4133949"/>
          </a:xfrm>
          <a:prstGeom prst="roundRect">
            <a:avLst>
              <a:gd name="adj" fmla="val 2381"/>
            </a:avLst>
          </a:prstGeom>
          <a:solidFill>
            <a:srgbClr val="FDFCF9"/>
          </a:solidFill>
          <a:ln w="6350">
            <a:solidFill>
              <a:srgbClr val="E4DCCB"/>
            </a:solidFill>
            <a:prstDash val="solid"/>
          </a:ln>
        </p:spPr>
      </p:sp>
      <p:pic>
        <p:nvPicPr>
          <p:cNvPr id="6" name="Image 0" descr="Team pit stop speed versus race average with 95 percent intervals">    </p:cNvPr>
          <p:cNvPicPr>
            <a:picLocks noChangeAspect="1"/>
          </p:cNvPicPr>
          <p:nvPr/>
        </p:nvPicPr>
        <p:blipFill>
          <a:blip r:embed="rId1"/>
          <a:srcRect l="-5682" r="-5682" t="0" b="0"/>
          <a:stretch/>
        </p:blipFill>
        <p:spPr>
          <a:xfrm>
            <a:off x="946150" y="1835051"/>
            <a:ext cx="6337300" cy="368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1600" y="17112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1600" y="180965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1600" y="2061071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Mean + 95% confidence interval.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21600" y="246300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1600" y="2561431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1600" y="2812852"/>
            <a:ext cx="376732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 Bull about 1 s quicker than average. Most teams' intervals cross 0.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1600" y="345479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1600" y="3553222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WHAT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21600" y="3804642"/>
            <a:ext cx="3767328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Without error bars we would rank all 11.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76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Try the argument yourself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1777901"/>
            <a:ext cx="6604000" cy="4064099"/>
          </a:xfrm>
          <a:prstGeom prst="roundRect">
            <a:avLst>
              <a:gd name="adj" fmla="val 2500"/>
            </a:avLst>
          </a:prstGeom>
          <a:solidFill>
            <a:srgbClr val="15151E"/>
          </a:solidFill>
          <a:ln/>
        </p:spPr>
        <p:txBody>
          <a:bodyPr wrap="square" lIns="656042" tIns="0" rIns="656042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BF6E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[screen recording plays here]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21600" y="1787426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21600" y="1885851"/>
            <a:ext cx="376732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Pick any team or driver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21600" y="2160091"/>
            <a:ext cx="376732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Highlight it, everything else goes gray.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21600" y="2570857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1600" y="2669282"/>
            <a:ext cx="376732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Flip to official colors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21600" y="2943523"/>
            <a:ext cx="376732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Watch the blues merge.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21600" y="3354288"/>
            <a:ext cx="3657600" cy="0"/>
          </a:xfrm>
          <a:prstGeom prst="line">
            <a:avLst/>
          </a:prstGeom>
          <a:noFill/>
          <a:ln w="19050">
            <a:solidFill>
              <a:srgbClr val="E10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1600" y="3452713"/>
            <a:ext cx="376732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See it colorblind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21600" y="3726954"/>
            <a:ext cx="376732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3D4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chart, simulated.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Group 6 · F1 2026 · DATA 230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10600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" y="6756400"/>
            <a:ext cx="12039600" cy="101600"/>
          </a:xfrm>
          <a:prstGeom prst="rect">
            <a:avLst/>
          </a:prstGeom>
          <a:gradFill rotWithShape="1">
            <a:gsLst>
              <a:gs pos="0">
                <a:srgbClr val="15151E"/>
              </a:gs>
              <a:gs pos="50000">
                <a:srgbClr val="15151E"/>
              </a:gs>
              <a:gs pos="50000">
                <a:srgbClr val="F6F1E7"/>
              </a:gs>
              <a:gs pos="100000">
                <a:srgbClr val="F6F1E7"/>
              </a:gs>
            </a:gsLst>
            <a:lin ang="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812800" y="169297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305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THREE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8302" y="2160290"/>
            <a:ext cx="10990270" cy="146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8498" indent="-368498">
              <a:lnSpc>
                <a:spcPts val="3780"/>
              </a:lnSpc>
              <a:buSzPct val="100000"/>
              <a:buFontTx/>
              <a:buAutoNum type="arabicPeriod" startAt="1"/>
            </a:pPr>
            <a:r>
              <a:rPr lang="en-US" sz="28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Color has a job. Pick it first.</a:t>
            </a:r>
            <a:endParaRPr lang="en-US" sz="2800" dirty="0"/>
          </a:p>
          <a:p>
            <a:pPr algn="l" marL="368498" indent="-368498">
              <a:lnSpc>
                <a:spcPts val="3780"/>
              </a:lnSpc>
              <a:buSzPct val="100000"/>
              <a:buFontTx/>
              <a:buAutoNum type="arabicPeriod" startAt="1"/>
            </a:pPr>
            <a:r>
              <a:rPr lang="en-US" sz="28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Less color is often better.</a:t>
            </a:r>
            <a:endParaRPr lang="en-US" sz="2800" dirty="0"/>
          </a:p>
          <a:p>
            <a:pPr algn="l" marL="368498" indent="-368498">
              <a:lnSpc>
                <a:spcPts val="3780"/>
              </a:lnSpc>
              <a:buSzPct val="100000"/>
              <a:buFontTx/>
              <a:buAutoNum type="arabicPeriod" startAt="1"/>
            </a:pPr>
            <a:r>
              <a:rPr lang="en-US" sz="2800" b="1" dirty="0">
                <a:solidFill>
                  <a:srgbClr val="15151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The question picks the chart.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3854351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10600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2800" y="474841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6B7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Data: F1DB v2026.15.1 (CC BY 4.0) · Python, pandas, matplotlib, plotly, Streamlit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6: F1 2026 Through Color and Chart Choice</dc:title>
  <dc:subject>PptxGenJS Presentation</dc:subject>
  <dc:creator>PptxGenJS</dc:creator>
  <cp:lastModifiedBy>PptxGenJS</cp:lastModifiedBy>
  <cp:revision>1</cp:revision>
  <dcterms:created xsi:type="dcterms:W3CDTF">2026-09-30T01:46:16Z</dcterms:created>
  <dcterms:modified xsi:type="dcterms:W3CDTF">2026-09-30T01:46:16Z</dcterms:modified>
</cp:coreProperties>
</file>